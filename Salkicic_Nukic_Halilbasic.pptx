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4"/>
  </p:notesMasterIdLst>
  <p:sldIdLst>
    <p:sldId id="259" r:id="rId3"/>
  </p:sldIdLst>
  <p:sldSz cx="10688638" cy="15124113"/>
  <p:notesSz cx="1512411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0" autoAdjust="0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2635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438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8" name="Text 51">
            <a:extLst>
              <a:ext uri="{FF2B5EF4-FFF2-40B4-BE49-F238E27FC236}">
                <a16:creationId xmlns:a16="http://schemas.microsoft.com/office/drawing/2014/main" id="{51A592FB-33E4-744B-A6DB-036060432B3D}"/>
              </a:ext>
            </a:extLst>
          </p:cNvPr>
          <p:cNvSpPr/>
          <p:nvPr userDrawn="1"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[Naslov vašeg postera ide ovdje]</a:t>
            </a:r>
            <a:endParaRPr lang="en-US" sz="2600" dirty="0"/>
          </a:p>
        </p:txBody>
      </p:sp>
      <p:sp>
        <p:nvSpPr>
          <p:cNvPr id="9" name="Text 52">
            <a:extLst>
              <a:ext uri="{FF2B5EF4-FFF2-40B4-BE49-F238E27FC236}">
                <a16:creationId xmlns:a16="http://schemas.microsoft.com/office/drawing/2014/main" id="{1F2A40AE-56BC-6A01-0A25-D90E4833B3FB}"/>
              </a:ext>
            </a:extLst>
          </p:cNvPr>
          <p:cNvSpPr/>
          <p:nvPr userDrawn="1"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 1 (email)  |  Autor 2 (email)  |  Autor 3 (email)</a:t>
            </a:r>
            <a:endParaRPr lang="en-US" sz="10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58">
            <a:extLst>
              <a:ext uri="{FF2B5EF4-FFF2-40B4-BE49-F238E27FC236}">
                <a16:creationId xmlns:a16="http://schemas.microsoft.com/office/drawing/2014/main" id="{D6158FCB-54C4-2F74-DF48-F7B41D5B526D}"/>
              </a:ext>
            </a:extLst>
          </p:cNvPr>
          <p:cNvSpPr/>
          <p:nvPr userDrawn="1"/>
        </p:nvSpPr>
        <p:spPr>
          <a:xfrm>
            <a:off x="160020" y="2788920"/>
            <a:ext cx="510463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61">
            <a:extLst>
              <a:ext uri="{FF2B5EF4-FFF2-40B4-BE49-F238E27FC236}">
                <a16:creationId xmlns:a16="http://schemas.microsoft.com/office/drawing/2014/main" id="{03377519-E363-CB67-0B96-52ACDCFCBDDB}"/>
              </a:ext>
            </a:extLst>
          </p:cNvPr>
          <p:cNvSpPr/>
          <p:nvPr userDrawn="1"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A637BFA5-A0AC-DD28-DFA2-885590A674B5}"/>
              </a:ext>
            </a:extLst>
          </p:cNvPr>
          <p:cNvSpPr/>
          <p:nvPr userDrawn="1"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6DE983D1-4037-AE77-369A-28E1786CB944}"/>
              </a:ext>
            </a:extLst>
          </p:cNvPr>
          <p:cNvSpPr/>
          <p:nvPr userDrawn="1"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1400" dirty="0"/>
          </a:p>
        </p:txBody>
      </p:sp>
      <p:sp>
        <p:nvSpPr>
          <p:cNvPr id="16" name="Text 62">
            <a:extLst>
              <a:ext uri="{FF2B5EF4-FFF2-40B4-BE49-F238E27FC236}">
                <a16:creationId xmlns:a16="http://schemas.microsoft.com/office/drawing/2014/main" id="{DDEDA90E-4DCE-D67D-4DC9-3D37BBFF6230}"/>
              </a:ext>
            </a:extLst>
          </p:cNvPr>
          <p:cNvSpPr/>
          <p:nvPr userDrawn="1"/>
        </p:nvSpPr>
        <p:spPr>
          <a:xfrm>
            <a:off x="297180" y="3383280"/>
            <a:ext cx="48303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l-PL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Napišite 3–5 rečenica. Ukratko opišite temu, podatke, metodu i ključni nalaz.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✎ 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 KRAJU,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kada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završite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ostale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Shape 63">
            <a:extLst>
              <a:ext uri="{FF2B5EF4-FFF2-40B4-BE49-F238E27FC236}">
                <a16:creationId xmlns:a16="http://schemas.microsoft.com/office/drawing/2014/main" id="{317F900C-DE32-2196-C383-6E08D95E9D84}"/>
              </a:ext>
            </a:extLst>
          </p:cNvPr>
          <p:cNvSpPr/>
          <p:nvPr userDrawn="1"/>
        </p:nvSpPr>
        <p:spPr>
          <a:xfrm>
            <a:off x="160020" y="4507992"/>
            <a:ext cx="510463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64">
            <a:extLst>
              <a:ext uri="{FF2B5EF4-FFF2-40B4-BE49-F238E27FC236}">
                <a16:creationId xmlns:a16="http://schemas.microsoft.com/office/drawing/2014/main" id="{BAC31545-BC99-E9C7-1223-7733F925FA65}"/>
              </a:ext>
            </a:extLst>
          </p:cNvPr>
          <p:cNvSpPr/>
          <p:nvPr userDrawn="1"/>
        </p:nvSpPr>
        <p:spPr>
          <a:xfrm>
            <a:off x="160020" y="4507992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65">
            <a:extLst>
              <a:ext uri="{FF2B5EF4-FFF2-40B4-BE49-F238E27FC236}">
                <a16:creationId xmlns:a16="http://schemas.microsoft.com/office/drawing/2014/main" id="{AE32D8C6-8F3E-A83F-38A1-EDC598FAC3E7}"/>
              </a:ext>
            </a:extLst>
          </p:cNvPr>
          <p:cNvSpPr/>
          <p:nvPr userDrawn="1"/>
        </p:nvSpPr>
        <p:spPr>
          <a:xfrm>
            <a:off x="297180" y="4654296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en-US" sz="1400" dirty="0"/>
          </a:p>
        </p:txBody>
      </p:sp>
      <p:sp>
        <p:nvSpPr>
          <p:cNvPr id="20" name="Text 67">
            <a:extLst>
              <a:ext uri="{FF2B5EF4-FFF2-40B4-BE49-F238E27FC236}">
                <a16:creationId xmlns:a16="http://schemas.microsoft.com/office/drawing/2014/main" id="{8AEE1043-7461-0500-A976-B104557716F2}"/>
              </a:ext>
            </a:extLst>
          </p:cNvPr>
          <p:cNvSpPr/>
          <p:nvPr userDrawn="1"/>
        </p:nvSpPr>
        <p:spPr>
          <a:xfrm>
            <a:off x="297180" y="5102352"/>
            <a:ext cx="483031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Koji problem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istražujete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zašto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je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važan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Istraživačko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pitanje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'Ovo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ispituje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li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koristeći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Y...'</a:t>
            </a:r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Kratko objasnite kontekst ili pozadinu teme.</a:t>
            </a:r>
            <a:endParaRPr lang="en-US" sz="1200" dirty="0"/>
          </a:p>
        </p:txBody>
      </p:sp>
      <p:sp>
        <p:nvSpPr>
          <p:cNvPr id="21" name="Shape 68">
            <a:extLst>
              <a:ext uri="{FF2B5EF4-FFF2-40B4-BE49-F238E27FC236}">
                <a16:creationId xmlns:a16="http://schemas.microsoft.com/office/drawing/2014/main" id="{00F3B5D6-B626-7475-1F44-377BBD27AE50}"/>
              </a:ext>
            </a:extLst>
          </p:cNvPr>
          <p:cNvSpPr/>
          <p:nvPr userDrawn="1"/>
        </p:nvSpPr>
        <p:spPr>
          <a:xfrm>
            <a:off x="160020" y="6592824"/>
            <a:ext cx="5104638" cy="76626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69">
            <a:extLst>
              <a:ext uri="{FF2B5EF4-FFF2-40B4-BE49-F238E27FC236}">
                <a16:creationId xmlns:a16="http://schemas.microsoft.com/office/drawing/2014/main" id="{F0F31AD2-76B2-7BAB-CBB7-14A36177A7E4}"/>
              </a:ext>
            </a:extLst>
          </p:cNvPr>
          <p:cNvSpPr/>
          <p:nvPr userDrawn="1"/>
        </p:nvSpPr>
        <p:spPr>
          <a:xfrm>
            <a:off x="160020" y="6592824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72">
            <a:extLst>
              <a:ext uri="{FF2B5EF4-FFF2-40B4-BE49-F238E27FC236}">
                <a16:creationId xmlns:a16="http://schemas.microsoft.com/office/drawing/2014/main" id="{8500D634-0348-5D51-55B2-1693103F4358}"/>
              </a:ext>
            </a:extLst>
          </p:cNvPr>
          <p:cNvSpPr/>
          <p:nvPr userDrawn="1"/>
        </p:nvSpPr>
        <p:spPr>
          <a:xfrm>
            <a:off x="297180" y="7187184"/>
            <a:ext cx="4830318" cy="694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Izvor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(Kaggle, API,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anketa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Veličina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Y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kolona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Ključne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varijable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3-5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glavnih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čišćenje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filtriranje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encoding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Analitički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pristup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EDA —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opis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obrazaca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statistike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Primijenjena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tehnika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regresija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klasifikacija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klasterizacija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Biblioteke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pandas, NumPy, matplotlib, seaborn, scikit-learn</a:t>
            </a:r>
            <a:endParaRPr lang="en-US" sz="1200" dirty="0"/>
          </a:p>
        </p:txBody>
      </p:sp>
      <p:sp>
        <p:nvSpPr>
          <p:cNvPr id="24" name="Text 70">
            <a:extLst>
              <a:ext uri="{FF2B5EF4-FFF2-40B4-BE49-F238E27FC236}">
                <a16:creationId xmlns:a16="http://schemas.microsoft.com/office/drawing/2014/main" id="{AA10E646-313E-1DD2-4561-DF77B994C49C}"/>
              </a:ext>
            </a:extLst>
          </p:cNvPr>
          <p:cNvSpPr/>
          <p:nvPr userDrawn="1"/>
        </p:nvSpPr>
        <p:spPr>
          <a:xfrm>
            <a:off x="297180" y="673912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en-US" sz="1400" dirty="0"/>
          </a:p>
        </p:txBody>
      </p:sp>
      <p:sp>
        <p:nvSpPr>
          <p:cNvPr id="25" name="Shape 66">
            <a:extLst>
              <a:ext uri="{FF2B5EF4-FFF2-40B4-BE49-F238E27FC236}">
                <a16:creationId xmlns:a16="http://schemas.microsoft.com/office/drawing/2014/main" id="{AAE586D7-35F2-B09B-F47A-D902A07F5A46}"/>
              </a:ext>
            </a:extLst>
          </p:cNvPr>
          <p:cNvSpPr/>
          <p:nvPr userDrawn="1"/>
        </p:nvSpPr>
        <p:spPr>
          <a:xfrm>
            <a:off x="297180" y="503834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1FB5C69A-F8D2-B340-E447-477284555F3B}"/>
              </a:ext>
            </a:extLst>
          </p:cNvPr>
          <p:cNvSpPr/>
          <p:nvPr userDrawn="1"/>
        </p:nvSpPr>
        <p:spPr>
          <a:xfrm>
            <a:off x="297180" y="712317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  <p:sp>
        <p:nvSpPr>
          <p:cNvPr id="32" name="Shape 73">
            <a:extLst>
              <a:ext uri="{FF2B5EF4-FFF2-40B4-BE49-F238E27FC236}">
                <a16:creationId xmlns:a16="http://schemas.microsoft.com/office/drawing/2014/main" id="{F656607E-C08B-970B-A47D-857C4B45DE84}"/>
              </a:ext>
            </a:extLst>
          </p:cNvPr>
          <p:cNvSpPr/>
          <p:nvPr userDrawn="1"/>
        </p:nvSpPr>
        <p:spPr>
          <a:xfrm>
            <a:off x="5424678" y="2788920"/>
            <a:ext cx="510463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3" name="Shape 74">
            <a:extLst>
              <a:ext uri="{FF2B5EF4-FFF2-40B4-BE49-F238E27FC236}">
                <a16:creationId xmlns:a16="http://schemas.microsoft.com/office/drawing/2014/main" id="{0229A630-95A9-2A47-29C3-28D9AD734FFA}"/>
              </a:ext>
            </a:extLst>
          </p:cNvPr>
          <p:cNvSpPr/>
          <p:nvPr userDrawn="1"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75">
            <a:extLst>
              <a:ext uri="{FF2B5EF4-FFF2-40B4-BE49-F238E27FC236}">
                <a16:creationId xmlns:a16="http://schemas.microsoft.com/office/drawing/2014/main" id="{C95DCC21-243B-739B-EB13-397A03A92BD5}"/>
              </a:ext>
            </a:extLst>
          </p:cNvPr>
          <p:cNvSpPr/>
          <p:nvPr userDrawn="1"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en-US" sz="1400" dirty="0"/>
          </a:p>
        </p:txBody>
      </p:sp>
      <p:sp>
        <p:nvSpPr>
          <p:cNvPr id="35" name="Shape 76">
            <a:extLst>
              <a:ext uri="{FF2B5EF4-FFF2-40B4-BE49-F238E27FC236}">
                <a16:creationId xmlns:a16="http://schemas.microsoft.com/office/drawing/2014/main" id="{CD8C7512-2D4C-4371-8BDE-A529DD103584}"/>
              </a:ext>
            </a:extLst>
          </p:cNvPr>
          <p:cNvSpPr/>
          <p:nvPr userDrawn="1"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36" name="Shape 77">
            <a:extLst>
              <a:ext uri="{FF2B5EF4-FFF2-40B4-BE49-F238E27FC236}">
                <a16:creationId xmlns:a16="http://schemas.microsoft.com/office/drawing/2014/main" id="{C0FDBA82-1D23-D238-A555-3645162FC752}"/>
              </a:ext>
            </a:extLst>
          </p:cNvPr>
          <p:cNvSpPr/>
          <p:nvPr userDrawn="1"/>
        </p:nvSpPr>
        <p:spPr>
          <a:xfrm>
            <a:off x="5424678" y="3474720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37" name="Text 78">
            <a:extLst>
              <a:ext uri="{FF2B5EF4-FFF2-40B4-BE49-F238E27FC236}">
                <a16:creationId xmlns:a16="http://schemas.microsoft.com/office/drawing/2014/main" id="{658E0269-F24B-F6A7-9C60-917F676FC4BA}"/>
              </a:ext>
            </a:extLst>
          </p:cNvPr>
          <p:cNvSpPr/>
          <p:nvPr userDrawn="1"/>
        </p:nvSpPr>
        <p:spPr>
          <a:xfrm>
            <a:off x="5446452" y="34819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1 – Potpis (Times New Roman, 10pt, centrirano)</a:t>
            </a:r>
            <a:endParaRPr lang="en-US" sz="1000" dirty="0"/>
          </a:p>
        </p:txBody>
      </p:sp>
      <p:sp>
        <p:nvSpPr>
          <p:cNvPr id="38" name="Shape 79">
            <a:extLst>
              <a:ext uri="{FF2B5EF4-FFF2-40B4-BE49-F238E27FC236}">
                <a16:creationId xmlns:a16="http://schemas.microsoft.com/office/drawing/2014/main" id="{7FEF126D-0159-A5BE-B2D9-5B7373338B65}"/>
              </a:ext>
            </a:extLst>
          </p:cNvPr>
          <p:cNvSpPr/>
          <p:nvPr userDrawn="1"/>
        </p:nvSpPr>
        <p:spPr>
          <a:xfrm>
            <a:off x="5424678" y="6108192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40" name="Text 80">
            <a:extLst>
              <a:ext uri="{FF2B5EF4-FFF2-40B4-BE49-F238E27FC236}">
                <a16:creationId xmlns:a16="http://schemas.microsoft.com/office/drawing/2014/main" id="{42FF101E-32A1-16F9-2C0C-FFE485DE2206}"/>
              </a:ext>
            </a:extLst>
          </p:cNvPr>
          <p:cNvSpPr/>
          <p:nvPr userDrawn="1"/>
        </p:nvSpPr>
        <p:spPr>
          <a:xfrm>
            <a:off x="5431933" y="61444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2 – Potpis (Times New Roman, 10pt, centrirano)</a:t>
            </a:r>
            <a:endParaRPr lang="en-US" sz="1000" dirty="0"/>
          </a:p>
        </p:txBody>
      </p:sp>
      <p:sp>
        <p:nvSpPr>
          <p:cNvPr id="41" name="Shape 81">
            <a:extLst>
              <a:ext uri="{FF2B5EF4-FFF2-40B4-BE49-F238E27FC236}">
                <a16:creationId xmlns:a16="http://schemas.microsoft.com/office/drawing/2014/main" id="{AE9FBFC9-1079-FA41-9CBA-89576CAE4C74}"/>
              </a:ext>
            </a:extLst>
          </p:cNvPr>
          <p:cNvSpPr/>
          <p:nvPr userDrawn="1"/>
        </p:nvSpPr>
        <p:spPr>
          <a:xfrm>
            <a:off x="5424678" y="8741664"/>
            <a:ext cx="5104638" cy="291693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82">
            <a:extLst>
              <a:ext uri="{FF2B5EF4-FFF2-40B4-BE49-F238E27FC236}">
                <a16:creationId xmlns:a16="http://schemas.microsoft.com/office/drawing/2014/main" id="{7AA4182A-CE52-BA05-AA5C-6DDBA28F723B}"/>
              </a:ext>
            </a:extLst>
          </p:cNvPr>
          <p:cNvSpPr/>
          <p:nvPr userDrawn="1"/>
        </p:nvSpPr>
        <p:spPr>
          <a:xfrm>
            <a:off x="5424678" y="8741664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43" name="Text 83">
            <a:extLst>
              <a:ext uri="{FF2B5EF4-FFF2-40B4-BE49-F238E27FC236}">
                <a16:creationId xmlns:a16="http://schemas.microsoft.com/office/drawing/2014/main" id="{0EE5F1E0-7DD7-D6B3-FAB3-83C63E9425CE}"/>
              </a:ext>
            </a:extLst>
          </p:cNvPr>
          <p:cNvSpPr/>
          <p:nvPr userDrawn="1"/>
        </p:nvSpPr>
        <p:spPr>
          <a:xfrm>
            <a:off x="5561838" y="888796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44" name="Shape 84">
            <a:extLst>
              <a:ext uri="{FF2B5EF4-FFF2-40B4-BE49-F238E27FC236}">
                <a16:creationId xmlns:a16="http://schemas.microsoft.com/office/drawing/2014/main" id="{9ED0B2BD-D873-0917-A750-6E008F6E14DC}"/>
              </a:ext>
            </a:extLst>
          </p:cNvPr>
          <p:cNvSpPr/>
          <p:nvPr userDrawn="1"/>
        </p:nvSpPr>
        <p:spPr>
          <a:xfrm>
            <a:off x="5561838" y="927201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45" name="Text 85">
            <a:extLst>
              <a:ext uri="{FF2B5EF4-FFF2-40B4-BE49-F238E27FC236}">
                <a16:creationId xmlns:a16="http://schemas.microsoft.com/office/drawing/2014/main" id="{660FA256-2654-E4E7-DAF7-EDAA9382E753}"/>
              </a:ext>
            </a:extLst>
          </p:cNvPr>
          <p:cNvSpPr/>
          <p:nvPr userDrawn="1"/>
        </p:nvSpPr>
        <p:spPr>
          <a:xfrm>
            <a:off x="5561838" y="9336023"/>
            <a:ext cx="4830318" cy="2213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Šta vaši nalazi znače u kontekstu teme?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1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2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3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Ograničenja analize i prijedlozi za buduća istraživanja.</a:t>
            </a:r>
            <a:endParaRPr lang="en-US" sz="1200" dirty="0"/>
          </a:p>
        </p:txBody>
      </p:sp>
      <p:sp>
        <p:nvSpPr>
          <p:cNvPr id="46" name="Shape 86">
            <a:extLst>
              <a:ext uri="{FF2B5EF4-FFF2-40B4-BE49-F238E27FC236}">
                <a16:creationId xmlns:a16="http://schemas.microsoft.com/office/drawing/2014/main" id="{698E30B0-C8D8-82C0-60C1-2D3C9D0C37F0}"/>
              </a:ext>
            </a:extLst>
          </p:cNvPr>
          <p:cNvSpPr/>
          <p:nvPr userDrawn="1"/>
        </p:nvSpPr>
        <p:spPr>
          <a:xfrm>
            <a:off x="5424678" y="11725524"/>
            <a:ext cx="5104638" cy="25299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7" name="Shape 87">
            <a:extLst>
              <a:ext uri="{FF2B5EF4-FFF2-40B4-BE49-F238E27FC236}">
                <a16:creationId xmlns:a16="http://schemas.microsoft.com/office/drawing/2014/main" id="{16E0EE86-0E5C-9982-0865-C628BE7B8672}"/>
              </a:ext>
            </a:extLst>
          </p:cNvPr>
          <p:cNvSpPr/>
          <p:nvPr userDrawn="1"/>
        </p:nvSpPr>
        <p:spPr>
          <a:xfrm>
            <a:off x="5424678" y="11725524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8" name="Text 88">
            <a:extLst>
              <a:ext uri="{FF2B5EF4-FFF2-40B4-BE49-F238E27FC236}">
                <a16:creationId xmlns:a16="http://schemas.microsoft.com/office/drawing/2014/main" id="{3BA0BF84-B971-AF34-F904-929D98834D20}"/>
              </a:ext>
            </a:extLst>
          </p:cNvPr>
          <p:cNvSpPr/>
          <p:nvPr userDrawn="1"/>
        </p:nvSpPr>
        <p:spPr>
          <a:xfrm>
            <a:off x="5561838" y="1184109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en-US" sz="1400" dirty="0"/>
          </a:p>
        </p:txBody>
      </p:sp>
      <p:sp>
        <p:nvSpPr>
          <p:cNvPr id="49" name="Shape 89">
            <a:extLst>
              <a:ext uri="{FF2B5EF4-FFF2-40B4-BE49-F238E27FC236}">
                <a16:creationId xmlns:a16="http://schemas.microsoft.com/office/drawing/2014/main" id="{5F6AF20E-D7A0-1B42-E0EA-5F7248A82C98}"/>
              </a:ext>
            </a:extLst>
          </p:cNvPr>
          <p:cNvSpPr/>
          <p:nvPr userDrawn="1"/>
        </p:nvSpPr>
        <p:spPr>
          <a:xfrm>
            <a:off x="5561838" y="1219440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50" name="Text 90">
            <a:extLst>
              <a:ext uri="{FF2B5EF4-FFF2-40B4-BE49-F238E27FC236}">
                <a16:creationId xmlns:a16="http://schemas.microsoft.com/office/drawing/2014/main" id="{4D015C98-E07F-C5ED-757A-1B355FC97918}"/>
              </a:ext>
            </a:extLst>
          </p:cNvPr>
          <p:cNvSpPr/>
          <p:nvPr userDrawn="1"/>
        </p:nvSpPr>
        <p:spPr>
          <a:xfrm>
            <a:off x="5561838" y="12298680"/>
            <a:ext cx="483031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 sve izvore (DIEC stil):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Članak: Prezime, I. (God.). Naslov. Časopis, Vol(Br), str. XX–XX.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Knjiga: Prezime, I. (God.). Naslov knjige. Izdavač. Grad.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Web: Autor (God.). Naslov. Dostupno na: URL. Pristupljeno: DD/MM/GGGG.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 tekstu: (Prezime, godina)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294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0">
            <a:extLst>
              <a:ext uri="{FF2B5EF4-FFF2-40B4-BE49-F238E27FC236}">
                <a16:creationId xmlns:a16="http://schemas.microsoft.com/office/drawing/2014/main" id="{7984A23B-EE68-1E49-B80F-118317AF9E76}"/>
              </a:ext>
            </a:extLst>
          </p:cNvPr>
          <p:cNvSpPr/>
          <p:nvPr userDrawn="1"/>
        </p:nvSpPr>
        <p:spPr>
          <a:xfrm>
            <a:off x="10689336" y="-63"/>
            <a:ext cx="3840480" cy="1512417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21735E10-EB90-CA24-1496-F1CFEC910D82}"/>
              </a:ext>
            </a:extLst>
          </p:cNvPr>
          <p:cNvSpPr/>
          <p:nvPr userDrawn="1"/>
        </p:nvSpPr>
        <p:spPr>
          <a:xfrm>
            <a:off x="10689336" y="0"/>
            <a:ext cx="3840480" cy="1371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54E641D4-E3A5-59A5-CFBF-876E89D79983}"/>
              </a:ext>
            </a:extLst>
          </p:cNvPr>
          <p:cNvSpPr/>
          <p:nvPr userDrawn="1"/>
        </p:nvSpPr>
        <p:spPr>
          <a:xfrm>
            <a:off x="10917936" y="2286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⚡  QUICK START GUIDE</a:t>
            </a:r>
            <a:endParaRPr lang="en-US" sz="12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7801108A-B8A3-5C77-1988-43F3DEFA92DA}"/>
              </a:ext>
            </a:extLst>
          </p:cNvPr>
          <p:cNvSpPr/>
          <p:nvPr userDrawn="1"/>
        </p:nvSpPr>
        <p:spPr>
          <a:xfrm>
            <a:off x="10917936" y="6583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8717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  OVA KOLONA SE NEĆE ŠTAMPATI — vidljiva samo u editoru</a:t>
            </a:r>
            <a:endParaRPr lang="en-US" sz="8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8BC84386-3CE2-9168-02E9-71EC62A47CB5}"/>
              </a:ext>
            </a:extLst>
          </p:cNvPr>
          <p:cNvSpPr/>
          <p:nvPr userDrawn="1"/>
        </p:nvSpPr>
        <p:spPr>
          <a:xfrm>
            <a:off x="10799064" y="100584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18832CAD-D100-F2FE-26C5-9728553378DD}"/>
              </a:ext>
            </a:extLst>
          </p:cNvPr>
          <p:cNvSpPr/>
          <p:nvPr userDrawn="1"/>
        </p:nvSpPr>
        <p:spPr>
          <a:xfrm>
            <a:off x="10799064" y="100584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5B5BB9A5-9CC6-70FA-6160-3CABE04F593A}"/>
              </a:ext>
            </a:extLst>
          </p:cNvPr>
          <p:cNvSpPr/>
          <p:nvPr userDrawn="1"/>
        </p:nvSpPr>
        <p:spPr>
          <a:xfrm>
            <a:off x="10917936" y="140817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C03872F0-B6C2-E1C8-80AE-6CA7BE79DC26}"/>
              </a:ext>
            </a:extLst>
          </p:cNvPr>
          <p:cNvSpPr/>
          <p:nvPr userDrawn="1"/>
        </p:nvSpPr>
        <p:spPr>
          <a:xfrm>
            <a:off x="10917936" y="11155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UPUTSTVA ZA FORMATIRANJE</a:t>
            </a:r>
            <a:endParaRPr lang="en-US" sz="9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319BC406-C537-A3C9-81BA-C2F266AAAD01}"/>
              </a:ext>
            </a:extLst>
          </p:cNvPr>
          <p:cNvSpPr/>
          <p:nvPr userDrawn="1"/>
        </p:nvSpPr>
        <p:spPr>
          <a:xfrm>
            <a:off x="10917936" y="1463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Font: Times New Roman — svugdje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 postera: 26pt,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Naslovi sekcija: 14pt,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Tekst: 12pt  |  Potpisi slika: 10pt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Margine: 2,0 cm  |  Naziv: Prezime1_Prezime2.pptx</a:t>
            </a:r>
            <a:endParaRPr lang="en-US" sz="800" dirty="0"/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496BCC35-2813-430B-8363-CBC148D09889}"/>
              </a:ext>
            </a:extLst>
          </p:cNvPr>
          <p:cNvSpPr/>
          <p:nvPr userDrawn="1"/>
        </p:nvSpPr>
        <p:spPr>
          <a:xfrm>
            <a:off x="10799064" y="24231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B32E0343-0E22-C0C3-768D-C8CDDEDBD16D}"/>
              </a:ext>
            </a:extLst>
          </p:cNvPr>
          <p:cNvSpPr/>
          <p:nvPr userDrawn="1"/>
        </p:nvSpPr>
        <p:spPr>
          <a:xfrm>
            <a:off x="10799064" y="242316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0182E70F-7B8C-1037-454D-A3322505035C}"/>
              </a:ext>
            </a:extLst>
          </p:cNvPr>
          <p:cNvSpPr/>
          <p:nvPr userDrawn="1"/>
        </p:nvSpPr>
        <p:spPr>
          <a:xfrm>
            <a:off x="10917936" y="25328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PREDAJA I PRAVILA GRUPNOG RADA</a:t>
            </a:r>
            <a:endParaRPr lang="en-US" sz="9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6E4EDBEA-AE5A-5CC2-A0E8-86DE3F4DB430}"/>
              </a:ext>
            </a:extLst>
          </p:cNvPr>
          <p:cNvSpPr/>
          <p:nvPr userDrawn="1"/>
        </p:nvSpPr>
        <p:spPr>
          <a:xfrm>
            <a:off x="10917936" y="28254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39F7C225-6E53-0A24-6013-98C9B9A1C11F}"/>
              </a:ext>
            </a:extLst>
          </p:cNvPr>
          <p:cNvSpPr/>
          <p:nvPr userDrawn="1"/>
        </p:nvSpPr>
        <p:spPr>
          <a:xfrm>
            <a:off x="10917936" y="28803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Grupe od 2–3 studenta  |  Jedna .pptx po grupi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Svi autori navedeni u zaglavlju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selena.kurtic@yahoo.com 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Rok: 5. juni 2026. (bez produžetaka)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 posteri →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DAF77D38-590B-6E0D-F770-96E5C37C6458}"/>
              </a:ext>
            </a:extLst>
          </p:cNvPr>
          <p:cNvSpPr/>
          <p:nvPr userDrawn="1"/>
        </p:nvSpPr>
        <p:spPr>
          <a:xfrm>
            <a:off x="10799064" y="3840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EE49D0B2-F9D1-51EF-A672-9F4E2398514B}"/>
              </a:ext>
            </a:extLst>
          </p:cNvPr>
          <p:cNvSpPr/>
          <p:nvPr userDrawn="1"/>
        </p:nvSpPr>
        <p:spPr>
          <a:xfrm>
            <a:off x="10799064" y="3840480"/>
            <a:ext cx="3639312" cy="141732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FAEDE132-7FBA-B391-8143-789FAB230B82}"/>
              </a:ext>
            </a:extLst>
          </p:cNvPr>
          <p:cNvSpPr/>
          <p:nvPr userDrawn="1"/>
        </p:nvSpPr>
        <p:spPr>
          <a:xfrm>
            <a:off x="10917936" y="3950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PRIJEDLOZI TEMATSKIH OBLASTI</a:t>
            </a:r>
            <a:endParaRPr lang="en-US" sz="90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43E85FB5-5BE3-4A79-33A3-FCFBD975F50D}"/>
              </a:ext>
            </a:extLst>
          </p:cNvPr>
          <p:cNvSpPr/>
          <p:nvPr userDrawn="1"/>
        </p:nvSpPr>
        <p:spPr>
          <a:xfrm>
            <a:off x="10917936" y="4242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A7CAD93D-30B9-1F4C-8BB4-98FD90DA653D}"/>
              </a:ext>
            </a:extLst>
          </p:cNvPr>
          <p:cNvSpPr/>
          <p:nvPr userDrawn="1"/>
        </p:nvSpPr>
        <p:spPr>
          <a:xfrm>
            <a:off x="10917936" y="4297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transformacija &amp; e-poslovanje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Društvene mreže i ljudsko ponašanje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AI, blockchain i nove tehnologije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ekonomija &amp; kripto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Fake news  |  Digitalni turizam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Bilo koja tema s mjerljivim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podacima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D09A8C19-1AD1-F5DE-C463-13ED546B287C}"/>
              </a:ext>
            </a:extLst>
          </p:cNvPr>
          <p:cNvSpPr/>
          <p:nvPr userDrawn="1"/>
        </p:nvSpPr>
        <p:spPr>
          <a:xfrm>
            <a:off x="10799064" y="5349240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50562295-A556-057B-254C-DA7AC9FCEBCA}"/>
              </a:ext>
            </a:extLst>
          </p:cNvPr>
          <p:cNvSpPr/>
          <p:nvPr userDrawn="1"/>
        </p:nvSpPr>
        <p:spPr>
          <a:xfrm>
            <a:off x="10799064" y="534924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E5769825-B110-4930-8157-2DB0E62933D8}"/>
              </a:ext>
            </a:extLst>
          </p:cNvPr>
          <p:cNvSpPr/>
          <p:nvPr userDrawn="1"/>
        </p:nvSpPr>
        <p:spPr>
          <a:xfrm>
            <a:off x="10917936" y="54589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KAKO POČETI</a:t>
            </a:r>
            <a:endParaRPr lang="en-US" sz="900" dirty="0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0D160DD9-220E-01A1-B8FE-B37BA7499AC6}"/>
              </a:ext>
            </a:extLst>
          </p:cNvPr>
          <p:cNvSpPr/>
          <p:nvPr userDrawn="1"/>
        </p:nvSpPr>
        <p:spPr>
          <a:xfrm>
            <a:off x="10917936" y="5751576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70C44953-BBB5-6399-673A-BE34620F937E}"/>
              </a:ext>
            </a:extLst>
          </p:cNvPr>
          <p:cNvSpPr/>
          <p:nvPr userDrawn="1"/>
        </p:nvSpPr>
        <p:spPr>
          <a:xfrm>
            <a:off x="10917936" y="58064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Odaberite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temu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Nađite dataset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Učitajte u PyCharm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Uradite EDA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Napravite vizualizacije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Popunite sekcije i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A63363B8-8331-B902-3558-63AF9417485A}"/>
              </a:ext>
            </a:extLst>
          </p:cNvPr>
          <p:cNvSpPr/>
          <p:nvPr userDrawn="1"/>
        </p:nvSpPr>
        <p:spPr>
          <a:xfrm>
            <a:off x="10799064" y="667512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5">
            <a:extLst>
              <a:ext uri="{FF2B5EF4-FFF2-40B4-BE49-F238E27FC236}">
                <a16:creationId xmlns:a16="http://schemas.microsoft.com/office/drawing/2014/main" id="{6803757D-E293-2CC9-4B88-58A517D80692}"/>
              </a:ext>
            </a:extLst>
          </p:cNvPr>
          <p:cNvSpPr/>
          <p:nvPr userDrawn="1"/>
        </p:nvSpPr>
        <p:spPr>
          <a:xfrm>
            <a:off x="10799064" y="667512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15CDEC25-78E8-6684-6224-BACE1C36BF74}"/>
              </a:ext>
            </a:extLst>
          </p:cNvPr>
          <p:cNvSpPr/>
          <p:nvPr userDrawn="1"/>
        </p:nvSpPr>
        <p:spPr>
          <a:xfrm>
            <a:off x="10917936" y="6784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GDJE NAĆI DATASET</a:t>
            </a:r>
            <a:endParaRPr lang="en-US" sz="900" dirty="0"/>
          </a:p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5800A855-EA1D-1C62-1BB1-16769E010A1B}"/>
              </a:ext>
            </a:extLst>
          </p:cNvPr>
          <p:cNvSpPr/>
          <p:nvPr userDrawn="1"/>
        </p:nvSpPr>
        <p:spPr>
          <a:xfrm>
            <a:off x="10917936" y="707745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58A0F219-DC86-A656-8779-EEEA5C722E70}"/>
              </a:ext>
            </a:extLst>
          </p:cNvPr>
          <p:cNvSpPr/>
          <p:nvPr userDrawn="1"/>
        </p:nvSpPr>
        <p:spPr>
          <a:xfrm>
            <a:off x="10917936" y="71323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Vlastita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anketa  |  Web scraping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Titanic, Iris, MNIST — NISU dozvoljeni!</a:t>
            </a:r>
            <a:endParaRPr lang="en-US" sz="80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41FB5E57-E6BF-003D-EAD3-37C7AEDEBB60}"/>
              </a:ext>
            </a:extLst>
          </p:cNvPr>
          <p:cNvSpPr/>
          <p:nvPr userDrawn="1"/>
        </p:nvSpPr>
        <p:spPr>
          <a:xfrm>
            <a:off x="10799064" y="8001000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A8E394F2-7AC5-6A89-EC72-13AB3894A333}"/>
              </a:ext>
            </a:extLst>
          </p:cNvPr>
          <p:cNvSpPr/>
          <p:nvPr userDrawn="1"/>
        </p:nvSpPr>
        <p:spPr>
          <a:xfrm>
            <a:off x="10799064" y="8001000"/>
            <a:ext cx="3639312" cy="2103120"/>
          </a:xfrm>
          <a:prstGeom prst="rect">
            <a:avLst/>
          </a:prstGeom>
          <a:solidFill>
            <a:srgbClr val="2D2D44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D4641FF3-634C-AFFE-29D2-63E8BED4D57A}"/>
              </a:ext>
            </a:extLst>
          </p:cNvPr>
          <p:cNvSpPr/>
          <p:nvPr userDrawn="1"/>
        </p:nvSpPr>
        <p:spPr>
          <a:xfrm>
            <a:off x="10917936" y="81107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6A3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🐍  PYTHON CHEAT SHEET</a:t>
            </a:r>
            <a:endParaRPr lang="en-US" sz="900" dirty="0"/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D0A75820-2DF5-A490-CE04-435C53D55004}"/>
              </a:ext>
            </a:extLst>
          </p:cNvPr>
          <p:cNvSpPr/>
          <p:nvPr userDrawn="1"/>
        </p:nvSpPr>
        <p:spPr>
          <a:xfrm>
            <a:off x="10917936" y="8403336"/>
            <a:ext cx="3429000" cy="0"/>
          </a:xfrm>
          <a:prstGeom prst="line">
            <a:avLst/>
          </a:prstGeom>
          <a:noFill/>
          <a:ln w="5080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CCE6255D-1494-FB0C-2FD7-7BC338EB8F11}"/>
              </a:ext>
            </a:extLst>
          </p:cNvPr>
          <p:cNvSpPr/>
          <p:nvPr userDrawn="1"/>
        </p:nvSpPr>
        <p:spPr>
          <a:xfrm>
            <a:off x="10917936" y="845820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pandas as pd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 = pd.read_csv('podaci.csv')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df.head()  df.info()  df.describe()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df.dropna()   df.fillna(0)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df.drop_duplicates()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matplotlib.pyplot as plt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seaborn as sns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sns.histplot(df['kolona'])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plt.savefig('slika1.png', dpi=300)</a:t>
            </a:r>
            <a:endParaRPr lang="en-US" sz="800" dirty="0"/>
          </a:p>
        </p:txBody>
      </p:sp>
      <p:sp>
        <p:nvSpPr>
          <p:cNvPr id="45" name="Shape 36">
            <a:extLst>
              <a:ext uri="{FF2B5EF4-FFF2-40B4-BE49-F238E27FC236}">
                <a16:creationId xmlns:a16="http://schemas.microsoft.com/office/drawing/2014/main" id="{DFC9E329-222A-EE4B-AB44-0D6D3C98B081}"/>
              </a:ext>
            </a:extLst>
          </p:cNvPr>
          <p:cNvSpPr/>
          <p:nvPr userDrawn="1"/>
        </p:nvSpPr>
        <p:spPr>
          <a:xfrm>
            <a:off x="10799064" y="101955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AF54F695-0A57-C1BD-4B30-F4595E6C0DFC}"/>
              </a:ext>
            </a:extLst>
          </p:cNvPr>
          <p:cNvSpPr/>
          <p:nvPr userDrawn="1"/>
        </p:nvSpPr>
        <p:spPr>
          <a:xfrm>
            <a:off x="10799064" y="10195560"/>
            <a:ext cx="3639312" cy="15544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>
            <a:extLst>
              <a:ext uri="{FF2B5EF4-FFF2-40B4-BE49-F238E27FC236}">
                <a16:creationId xmlns:a16="http://schemas.microsoft.com/office/drawing/2014/main" id="{41025DCB-8CC9-EAC5-8262-893CD041FB92}"/>
              </a:ext>
            </a:extLst>
          </p:cNvPr>
          <p:cNvSpPr/>
          <p:nvPr userDrawn="1"/>
        </p:nvSpPr>
        <p:spPr>
          <a:xfrm>
            <a:off x="10917936" y="10305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CHECKLIST PRIJE PREDAJE</a:t>
            </a:r>
            <a:endParaRPr lang="en-US" sz="900" dirty="0"/>
          </a:p>
        </p:txBody>
      </p:sp>
      <p:sp>
        <p:nvSpPr>
          <p:cNvPr id="48" name="Shape 38">
            <a:extLst>
              <a:ext uri="{FF2B5EF4-FFF2-40B4-BE49-F238E27FC236}">
                <a16:creationId xmlns:a16="http://schemas.microsoft.com/office/drawing/2014/main" id="{CB3E1A86-7321-47B6-1166-61380AFEE2B5}"/>
              </a:ext>
            </a:extLst>
          </p:cNvPr>
          <p:cNvSpPr/>
          <p:nvPr userDrawn="1"/>
        </p:nvSpPr>
        <p:spPr>
          <a:xfrm>
            <a:off x="10917936" y="105978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9">
            <a:extLst>
              <a:ext uri="{FF2B5EF4-FFF2-40B4-BE49-F238E27FC236}">
                <a16:creationId xmlns:a16="http://schemas.microsoft.com/office/drawing/2014/main" id="{9C14ECB1-5CC4-DECF-F7C3-AC8F7C128CCB}"/>
              </a:ext>
            </a:extLst>
          </p:cNvPr>
          <p:cNvSpPr/>
          <p:nvPr userDrawn="1"/>
        </p:nvSpPr>
        <p:spPr>
          <a:xfrm>
            <a:off x="10917936" y="106527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 autori (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+n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prezime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email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Stvarni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dataset — min. 200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grafikona visoke rezolucije (dpi=300)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popunjene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stilu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Predano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do 5. juna 2026. </a:t>
            </a:r>
            <a:endParaRPr lang="en-US" sz="80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E418725A-0F48-0AB9-CADA-714C90927E86}"/>
              </a:ext>
            </a:extLst>
          </p:cNvPr>
          <p:cNvSpPr/>
          <p:nvPr userDrawn="1"/>
        </p:nvSpPr>
        <p:spPr>
          <a:xfrm>
            <a:off x="10799064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0">
            <a:extLst>
              <a:ext uri="{FF2B5EF4-FFF2-40B4-BE49-F238E27FC236}">
                <a16:creationId xmlns:a16="http://schemas.microsoft.com/office/drawing/2014/main" id="{59B50075-A0CC-E4B3-5795-FA410DC63EA1}"/>
              </a:ext>
            </a:extLst>
          </p:cNvPr>
          <p:cNvSpPr/>
          <p:nvPr userDrawn="1"/>
        </p:nvSpPr>
        <p:spPr>
          <a:xfrm>
            <a:off x="10799064" y="1184148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2">
            <a:extLst>
              <a:ext uri="{FF2B5EF4-FFF2-40B4-BE49-F238E27FC236}">
                <a16:creationId xmlns:a16="http://schemas.microsoft.com/office/drawing/2014/main" id="{F9CC5762-ADD2-62FA-313C-ECB1738BB375}"/>
              </a:ext>
            </a:extLst>
          </p:cNvPr>
          <p:cNvSpPr/>
          <p:nvPr userDrawn="1"/>
        </p:nvSpPr>
        <p:spPr>
          <a:xfrm>
            <a:off x="10917936" y="11951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SAVJETI ZA ODLIČAN POSTER</a:t>
            </a:r>
            <a:endParaRPr lang="en-US" sz="900" dirty="0"/>
          </a:p>
        </p:txBody>
      </p:sp>
      <p:sp>
        <p:nvSpPr>
          <p:cNvPr id="53" name="Shape 43">
            <a:extLst>
              <a:ext uri="{FF2B5EF4-FFF2-40B4-BE49-F238E27FC236}">
                <a16:creationId xmlns:a16="http://schemas.microsoft.com/office/drawing/2014/main" id="{22406E13-28BA-80DF-9C97-2A9E71C8B88B}"/>
              </a:ext>
            </a:extLst>
          </p:cNvPr>
          <p:cNvSpPr/>
          <p:nvPr userDrawn="1"/>
        </p:nvSpPr>
        <p:spPr>
          <a:xfrm>
            <a:off x="10917936" y="12243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4">
            <a:extLst>
              <a:ext uri="{FF2B5EF4-FFF2-40B4-BE49-F238E27FC236}">
                <a16:creationId xmlns:a16="http://schemas.microsoft.com/office/drawing/2014/main" id="{AD17A925-BF9A-48C3-6286-456579038AD5}"/>
              </a:ext>
            </a:extLst>
          </p:cNvPr>
          <p:cNvSpPr/>
          <p:nvPr userDrawn="1"/>
        </p:nvSpPr>
        <p:spPr>
          <a:xfrm>
            <a:off x="10917936" y="12298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Grafikon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priča priču — manje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!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(dpi=300) za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oštre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Bolje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jasan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pet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nejasnih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A3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čitljivo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metar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udaljenosti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poster,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mogućnost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rad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uđe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endParaRPr lang="en-US" sz="800" dirty="0"/>
          </a:p>
        </p:txBody>
      </p:sp>
      <p:sp>
        <p:nvSpPr>
          <p:cNvPr id="57" name="Shape 6">
            <a:extLst>
              <a:ext uri="{FF2B5EF4-FFF2-40B4-BE49-F238E27FC236}">
                <a16:creationId xmlns:a16="http://schemas.microsoft.com/office/drawing/2014/main" id="{7DF0FDDB-A325-CDC4-DC79-4D454896937F}"/>
              </a:ext>
            </a:extLst>
          </p:cNvPr>
          <p:cNvSpPr/>
          <p:nvPr userDrawn="1"/>
        </p:nvSpPr>
        <p:spPr>
          <a:xfrm>
            <a:off x="10789920" y="997567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1C2EC3AF-C9DC-F48F-0D03-171C463AAEE9}"/>
              </a:ext>
            </a:extLst>
          </p:cNvPr>
          <p:cNvSpPr/>
          <p:nvPr userDrawn="1"/>
        </p:nvSpPr>
        <p:spPr>
          <a:xfrm>
            <a:off x="10791810" y="2425995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694BB11-2268-CC38-78BA-81B0EBFB6F48}"/>
              </a:ext>
            </a:extLst>
          </p:cNvPr>
          <p:cNvSpPr/>
          <p:nvPr userDrawn="1"/>
        </p:nvSpPr>
        <p:spPr>
          <a:xfrm>
            <a:off x="10789920" y="3848206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E52049EC-1078-72C5-4C45-9BC7E81A1C7B}"/>
              </a:ext>
            </a:extLst>
          </p:cNvPr>
          <p:cNvSpPr/>
          <p:nvPr userDrawn="1"/>
        </p:nvSpPr>
        <p:spPr>
          <a:xfrm>
            <a:off x="10789920" y="5356966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EF20E537-BB03-C863-9F3B-79EA7234971A}"/>
              </a:ext>
            </a:extLst>
          </p:cNvPr>
          <p:cNvSpPr/>
          <p:nvPr userDrawn="1"/>
        </p:nvSpPr>
        <p:spPr>
          <a:xfrm>
            <a:off x="10791810" y="6693408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31">
            <a:extLst>
              <a:ext uri="{FF2B5EF4-FFF2-40B4-BE49-F238E27FC236}">
                <a16:creationId xmlns:a16="http://schemas.microsoft.com/office/drawing/2014/main" id="{6EA00D21-C910-379C-DCF5-892037593893}"/>
              </a:ext>
            </a:extLst>
          </p:cNvPr>
          <p:cNvSpPr/>
          <p:nvPr userDrawn="1"/>
        </p:nvSpPr>
        <p:spPr>
          <a:xfrm>
            <a:off x="10789920" y="8019288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36">
            <a:extLst>
              <a:ext uri="{FF2B5EF4-FFF2-40B4-BE49-F238E27FC236}">
                <a16:creationId xmlns:a16="http://schemas.microsoft.com/office/drawing/2014/main" id="{6BD668CC-8C94-261D-5DEE-41752DAD5FA3}"/>
              </a:ext>
            </a:extLst>
          </p:cNvPr>
          <p:cNvSpPr/>
          <p:nvPr userDrawn="1"/>
        </p:nvSpPr>
        <p:spPr>
          <a:xfrm>
            <a:off x="10789920" y="1020369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41">
            <a:extLst>
              <a:ext uri="{FF2B5EF4-FFF2-40B4-BE49-F238E27FC236}">
                <a16:creationId xmlns:a16="http://schemas.microsoft.com/office/drawing/2014/main" id="{D7ACA216-17EF-1E35-772E-9C823CE5D862}"/>
              </a:ext>
            </a:extLst>
          </p:cNvPr>
          <p:cNvSpPr/>
          <p:nvPr userDrawn="1"/>
        </p:nvSpPr>
        <p:spPr>
          <a:xfrm>
            <a:off x="10789920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96">
            <a:extLst>
              <a:ext uri="{FF2B5EF4-FFF2-40B4-BE49-F238E27FC236}">
                <a16:creationId xmlns:a16="http://schemas.microsoft.com/office/drawing/2014/main" id="{2C062931-94C2-B756-B9FA-C66DEB7E41F3}"/>
              </a:ext>
            </a:extLst>
          </p:cNvPr>
          <p:cNvSpPr/>
          <p:nvPr userDrawn="1"/>
        </p:nvSpPr>
        <p:spPr>
          <a:xfrm>
            <a:off x="10799064" y="13277088"/>
            <a:ext cx="3639312" cy="14630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97">
            <a:extLst>
              <a:ext uri="{FF2B5EF4-FFF2-40B4-BE49-F238E27FC236}">
                <a16:creationId xmlns:a16="http://schemas.microsoft.com/office/drawing/2014/main" id="{84C68569-FEE1-9496-506A-418219DC7072}"/>
              </a:ext>
            </a:extLst>
          </p:cNvPr>
          <p:cNvSpPr/>
          <p:nvPr userDrawn="1"/>
        </p:nvSpPr>
        <p:spPr>
          <a:xfrm>
            <a:off x="10799064" y="13277088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98">
            <a:extLst>
              <a:ext uri="{FF2B5EF4-FFF2-40B4-BE49-F238E27FC236}">
                <a16:creationId xmlns:a16="http://schemas.microsoft.com/office/drawing/2014/main" id="{148D1D35-919F-F2CC-F758-09BC7CE0A620}"/>
              </a:ext>
            </a:extLst>
          </p:cNvPr>
          <p:cNvSpPr/>
          <p:nvPr userDrawn="1"/>
        </p:nvSpPr>
        <p:spPr>
          <a:xfrm>
            <a:off x="10917936" y="1338681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NAPOMENA ZA STUDENTE</a:t>
            </a:r>
            <a:endParaRPr lang="en-US" sz="900" dirty="0"/>
          </a:p>
        </p:txBody>
      </p:sp>
      <p:sp>
        <p:nvSpPr>
          <p:cNvPr id="68" name="Shape 99">
            <a:extLst>
              <a:ext uri="{FF2B5EF4-FFF2-40B4-BE49-F238E27FC236}">
                <a16:creationId xmlns:a16="http://schemas.microsoft.com/office/drawing/2014/main" id="{C89071E2-4B0B-56BD-4514-6A1C9A07C5D9}"/>
              </a:ext>
            </a:extLst>
          </p:cNvPr>
          <p:cNvSpPr/>
          <p:nvPr userDrawn="1"/>
        </p:nvSpPr>
        <p:spPr>
          <a:xfrm>
            <a:off x="10917936" y="13679424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00">
            <a:extLst>
              <a:ext uri="{FF2B5EF4-FFF2-40B4-BE49-F238E27FC236}">
                <a16:creationId xmlns:a16="http://schemas.microsoft.com/office/drawing/2014/main" id="{A41810F0-F471-A642-7427-E681767A556B}"/>
              </a:ext>
            </a:extLst>
          </p:cNvPr>
          <p:cNvSpPr/>
          <p:nvPr userDrawn="1"/>
        </p:nvSpPr>
        <p:spPr>
          <a:xfrm>
            <a:off x="10917936" y="1373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Slobodno možete mijenjati veličinu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poziciju SVIH okvira prema potrebi —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uključujući i okvire za grafikone.</a:t>
            </a:r>
            <a:endParaRPr lang="en-US" sz="800" dirty="0"/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Jednostavno kliknite na okvir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povucite ili resize-ajte po želji. ✓</a:t>
            </a:r>
            <a:endParaRPr lang="en-US" sz="800" dirty="0"/>
          </a:p>
        </p:txBody>
      </p:sp>
      <p:sp>
        <p:nvSpPr>
          <p:cNvPr id="70" name="Text 46">
            <a:extLst>
              <a:ext uri="{FF2B5EF4-FFF2-40B4-BE49-F238E27FC236}">
                <a16:creationId xmlns:a16="http://schemas.microsoft.com/office/drawing/2014/main" id="{19B60652-96AC-AEE8-6C65-552B8CE9EC6F}"/>
              </a:ext>
            </a:extLst>
          </p:cNvPr>
          <p:cNvSpPr/>
          <p:nvPr userDrawn="1"/>
        </p:nvSpPr>
        <p:spPr>
          <a:xfrm>
            <a:off x="10917936" y="14734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analizu podataka  |  2025/2026</a:t>
            </a:r>
            <a:endParaRPr lang="en-US" sz="7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479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insideairbnb.com/get-the-data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51">
            <a:extLst>
              <a:ext uri="{FF2B5EF4-FFF2-40B4-BE49-F238E27FC236}">
                <a16:creationId xmlns:a16="http://schemas.microsoft.com/office/drawing/2014/main" id="{A198121B-D645-B12A-227B-F0EB83A3F2D1}"/>
              </a:ext>
            </a:extLst>
          </p:cNvPr>
          <p:cNvSpPr/>
          <p:nvPr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bs-Latn-BA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Airbnb cjenovni obrasci u mediteranskim gradovima</a:t>
            </a:r>
            <a:endParaRPr lang="en-US" sz="2600" dirty="0"/>
          </a:p>
        </p:txBody>
      </p:sp>
      <p:sp>
        <p:nvSpPr>
          <p:cNvPr id="12" name="Text 52">
            <a:extLst>
              <a:ext uri="{FF2B5EF4-FFF2-40B4-BE49-F238E27FC236}">
                <a16:creationId xmlns:a16="http://schemas.microsoft.com/office/drawing/2014/main" id="{79CD2332-9296-90E6-10BA-8686C9036D2E}"/>
              </a:ext>
            </a:extLst>
          </p:cNvPr>
          <p:cNvSpPr/>
          <p:nvPr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bs-Latn-BA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Ajnur Nukić (ajnur.nukic2002@gmail.com) </a:t>
            </a:r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  </a:t>
            </a:r>
            <a:r>
              <a:rPr lang="bs-Latn-BA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Belma Salkičić </a:t>
            </a:r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(belma7salkicic@gmail.com)  |  </a:t>
            </a:r>
            <a:r>
              <a:rPr lang="bs-Latn-BA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Demir Halilbašić</a:t>
            </a:r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(demirhalilbasic@gmail.com)</a:t>
            </a:r>
            <a:endParaRPr lang="en-US" sz="1000" dirty="0"/>
          </a:p>
        </p:txBody>
      </p:sp>
      <p:sp>
        <p:nvSpPr>
          <p:cNvPr id="13" name="Shape 58">
            <a:extLst>
              <a:ext uri="{FF2B5EF4-FFF2-40B4-BE49-F238E27FC236}">
                <a16:creationId xmlns:a16="http://schemas.microsoft.com/office/drawing/2014/main" id="{0D67A75A-45D6-A08F-7080-6E2BEBD304D4}"/>
              </a:ext>
            </a:extLst>
          </p:cNvPr>
          <p:cNvSpPr/>
          <p:nvPr/>
        </p:nvSpPr>
        <p:spPr>
          <a:xfrm>
            <a:off x="160020" y="2788920"/>
            <a:ext cx="5104638" cy="177082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D0B89E82-5321-606D-E183-8025FE09BFD6}"/>
              </a:ext>
            </a:extLst>
          </p:cNvPr>
          <p:cNvSpPr/>
          <p:nvPr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EEDAA78B-E749-AC46-5AB6-DFC466F2BA49}"/>
              </a:ext>
            </a:extLst>
          </p:cNvPr>
          <p:cNvSpPr/>
          <p:nvPr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1400" dirty="0"/>
          </a:p>
        </p:txBody>
      </p:sp>
      <p:sp>
        <p:nvSpPr>
          <p:cNvPr id="16" name="Shape 61">
            <a:extLst>
              <a:ext uri="{FF2B5EF4-FFF2-40B4-BE49-F238E27FC236}">
                <a16:creationId xmlns:a16="http://schemas.microsoft.com/office/drawing/2014/main" id="{EFB60C95-5BB9-E086-B6DD-1F36E589BD64}"/>
              </a:ext>
            </a:extLst>
          </p:cNvPr>
          <p:cNvSpPr/>
          <p:nvPr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62">
            <a:extLst>
              <a:ext uri="{FF2B5EF4-FFF2-40B4-BE49-F238E27FC236}">
                <a16:creationId xmlns:a16="http://schemas.microsoft.com/office/drawing/2014/main" id="{4A15B03E-117C-D7A9-C696-F9096B5C9A22}"/>
              </a:ext>
            </a:extLst>
          </p:cNvPr>
          <p:cNvSpPr/>
          <p:nvPr/>
        </p:nvSpPr>
        <p:spPr>
          <a:xfrm>
            <a:off x="297180" y="3383279"/>
            <a:ext cx="4830318" cy="10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Istraživanje analizira faktore koji određuju cijenu Airbnb smještaja u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šest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mediteranskih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južnoevropskih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gradova</a:t>
            </a:r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Analiza je provedena na uzorku od 91.301 oglasa. Primijenjeni su regresijski modeli, geospacijalna analiza i klasterizacija. Tip smještaja pokazao se kao dominantniji cjenovni faktor od lokacije u pet od šest gradova. Rim je najskuplje tržište, a Atena i Istanbul nude najbolji omjer cijene i kvalitete.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63">
            <a:extLst>
              <a:ext uri="{FF2B5EF4-FFF2-40B4-BE49-F238E27FC236}">
                <a16:creationId xmlns:a16="http://schemas.microsoft.com/office/drawing/2014/main" id="{2BFB5975-56E3-7625-3087-2DBC3A397816}"/>
              </a:ext>
            </a:extLst>
          </p:cNvPr>
          <p:cNvSpPr/>
          <p:nvPr/>
        </p:nvSpPr>
        <p:spPr>
          <a:xfrm>
            <a:off x="160020" y="4724338"/>
            <a:ext cx="5104638" cy="505974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64">
            <a:extLst>
              <a:ext uri="{FF2B5EF4-FFF2-40B4-BE49-F238E27FC236}">
                <a16:creationId xmlns:a16="http://schemas.microsoft.com/office/drawing/2014/main" id="{A249AEB4-E1E9-F8F9-0EBA-2C7A8858CD95}"/>
              </a:ext>
            </a:extLst>
          </p:cNvPr>
          <p:cNvSpPr/>
          <p:nvPr/>
        </p:nvSpPr>
        <p:spPr>
          <a:xfrm>
            <a:off x="152067" y="4724338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65">
            <a:extLst>
              <a:ext uri="{FF2B5EF4-FFF2-40B4-BE49-F238E27FC236}">
                <a16:creationId xmlns:a16="http://schemas.microsoft.com/office/drawing/2014/main" id="{CBC24586-87BD-2942-A83C-7223F56A066D}"/>
              </a:ext>
            </a:extLst>
          </p:cNvPr>
          <p:cNvSpPr/>
          <p:nvPr/>
        </p:nvSpPr>
        <p:spPr>
          <a:xfrm>
            <a:off x="289227" y="487064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en-US" sz="1400" dirty="0"/>
          </a:p>
        </p:txBody>
      </p:sp>
      <p:sp>
        <p:nvSpPr>
          <p:cNvPr id="21" name="Shape 66">
            <a:extLst>
              <a:ext uri="{FF2B5EF4-FFF2-40B4-BE49-F238E27FC236}">
                <a16:creationId xmlns:a16="http://schemas.microsoft.com/office/drawing/2014/main" id="{B79D5FEA-4CB2-D230-AD5F-5E06905284EF}"/>
              </a:ext>
            </a:extLst>
          </p:cNvPr>
          <p:cNvSpPr/>
          <p:nvPr/>
        </p:nvSpPr>
        <p:spPr>
          <a:xfrm>
            <a:off x="289227" y="5254690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67">
            <a:extLst>
              <a:ext uri="{FF2B5EF4-FFF2-40B4-BE49-F238E27FC236}">
                <a16:creationId xmlns:a16="http://schemas.microsoft.com/office/drawing/2014/main" id="{DA495CB9-8957-0EC0-7F89-9B14E7338422}"/>
              </a:ext>
            </a:extLst>
          </p:cNvPr>
          <p:cNvSpPr/>
          <p:nvPr/>
        </p:nvSpPr>
        <p:spPr>
          <a:xfrm>
            <a:off x="297180" y="5327841"/>
            <a:ext cx="4830318" cy="4389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Digitalne platforme kratkoročnog iznajmljivanja, posebno Airbnb, značajno su transformisale turističko tržište i način na koji se formiraju cijene smještaja u urbanim destinacijama. Razvoj platforme omogućio je turistima širok izbor smještaja, dok je istovremeno otvorio prostor za istraživanje.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Ovo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istraživanje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obrasce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formiranja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cijena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Airbnb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smještaja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šest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mediteranskih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južnoevropskih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gradova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Ateni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Malagi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Istanbulu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Napulju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Rimu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Valenciji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dva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ključna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faktora</a:t>
            </a:r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geografskoj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lokaciji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smještaja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centar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naspram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periferije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smještaja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cijeli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stan/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kuća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privatna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soba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zajednička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soba).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je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utvrditi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djeluju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faktori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jednako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svim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tržištima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ili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postoje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specifični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lokalni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obrasci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koji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mijenjaju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njihovu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važnost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Analiza je provedena na uzorku od preko 91.000 Airbnb oglasa preuzetih sa platforme Inside Airbnb za period septembar – oktobar 2025. godine. Korištene su metode deskriptivne statistike, geospacijalne analize, regresijskih modela i klasterizacije kako bi se identifikovali dominantni obrasci cijena i razlike između gradova.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Rezultati pokazuju da tip smještaja u većini gradova ima jači uticaj na cijenu od same lokacije, dok Rim predstavlja izuzetak u kojem su oba faktora podjednako važna. Istraživanje također otktiva da odnos između udaljenost od centra i cijene nije univerzalan, jer pojedini gradovi poput Istanbula i Napulja pokazuju atipične obrasce formiranja cijena.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68">
            <a:extLst>
              <a:ext uri="{FF2B5EF4-FFF2-40B4-BE49-F238E27FC236}">
                <a16:creationId xmlns:a16="http://schemas.microsoft.com/office/drawing/2014/main" id="{216CB328-C9B6-7160-5CDC-0EB70BA19136}"/>
              </a:ext>
            </a:extLst>
          </p:cNvPr>
          <p:cNvSpPr/>
          <p:nvPr/>
        </p:nvSpPr>
        <p:spPr>
          <a:xfrm>
            <a:off x="160020" y="9991493"/>
            <a:ext cx="5104638" cy="426400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69">
            <a:extLst>
              <a:ext uri="{FF2B5EF4-FFF2-40B4-BE49-F238E27FC236}">
                <a16:creationId xmlns:a16="http://schemas.microsoft.com/office/drawing/2014/main" id="{C2B62B3E-2E85-9D72-32A3-2D3668F2DC69}"/>
              </a:ext>
            </a:extLst>
          </p:cNvPr>
          <p:cNvSpPr/>
          <p:nvPr/>
        </p:nvSpPr>
        <p:spPr>
          <a:xfrm>
            <a:off x="152067" y="9991493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70">
            <a:extLst>
              <a:ext uri="{FF2B5EF4-FFF2-40B4-BE49-F238E27FC236}">
                <a16:creationId xmlns:a16="http://schemas.microsoft.com/office/drawing/2014/main" id="{D7FD5D64-E756-0EFF-6D96-FFB01F7E8E9B}"/>
              </a:ext>
            </a:extLst>
          </p:cNvPr>
          <p:cNvSpPr/>
          <p:nvPr/>
        </p:nvSpPr>
        <p:spPr>
          <a:xfrm>
            <a:off x="289227" y="10137797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en-US" sz="1400" dirty="0"/>
          </a:p>
        </p:txBody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E8231605-B1E8-EA6B-2330-AB4C0348F070}"/>
              </a:ext>
            </a:extLst>
          </p:cNvPr>
          <p:cNvSpPr/>
          <p:nvPr/>
        </p:nvSpPr>
        <p:spPr>
          <a:xfrm>
            <a:off x="289227" y="10521845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72">
            <a:extLst>
              <a:ext uri="{FF2B5EF4-FFF2-40B4-BE49-F238E27FC236}">
                <a16:creationId xmlns:a16="http://schemas.microsoft.com/office/drawing/2014/main" id="{DC84769B-F66B-9B8E-45E3-504DA930EFDB}"/>
              </a:ext>
            </a:extLst>
          </p:cNvPr>
          <p:cNvSpPr/>
          <p:nvPr/>
        </p:nvSpPr>
        <p:spPr>
          <a:xfrm>
            <a:off x="297180" y="10654433"/>
            <a:ext cx="4830318" cy="3502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Izvor: Inside Airbnb (insideairbnb.com), septembar – oktobar 2025. 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Analizirano je 91.301 oglasa iz šest gradova: Atena, Malaga, Istanbul, Napulj, Rim i Valencia. Korišteni su podaci iz listing.csv i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neighbourhoods.geojson</a:t>
            </a:r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datoteka koje sadrže informacije o cijeni, tipu smještaja, lokaciji, recenzijama i kvartovima.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Ključne varijable uključuju cijenu, tip smještaja, lokaciju/kvart, udaljenost od centra, broj recenzija, ocjene gostiju i kapacitet smještaja (accommodates).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Preprocesiranje podataka obuhvatilo je uklanjanje nedostajućih vrijednosti i outliera (IQR metoda), konverziju valuta u USD, te računanje udaljenosti smještaja od centra grada korištenjem geografskih koordinata.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Metodološki pristup uključuje deskriptivnu statistiku, geospacijalnu analizu, OLS regresiju, korelacijsku analizu i Kmeans klasterizaciju. Vizualizacije su kreirane pomoću biblioteka Matplotlib, Seaborn, Plotly i Folium, dok su za obradu podataka korišteni pandas i NumPy.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73">
            <a:extLst>
              <a:ext uri="{FF2B5EF4-FFF2-40B4-BE49-F238E27FC236}">
                <a16:creationId xmlns:a16="http://schemas.microsoft.com/office/drawing/2014/main" id="{45F6B132-9C0C-A4AD-5167-EE96038C0D2C}"/>
              </a:ext>
            </a:extLst>
          </p:cNvPr>
          <p:cNvSpPr/>
          <p:nvPr/>
        </p:nvSpPr>
        <p:spPr>
          <a:xfrm>
            <a:off x="5424678" y="2788919"/>
            <a:ext cx="5104638" cy="672660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74">
            <a:extLst>
              <a:ext uri="{FF2B5EF4-FFF2-40B4-BE49-F238E27FC236}">
                <a16:creationId xmlns:a16="http://schemas.microsoft.com/office/drawing/2014/main" id="{335FA1B8-F59D-A7C8-B49F-C0B27913F216}"/>
              </a:ext>
            </a:extLst>
          </p:cNvPr>
          <p:cNvSpPr/>
          <p:nvPr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75">
            <a:extLst>
              <a:ext uri="{FF2B5EF4-FFF2-40B4-BE49-F238E27FC236}">
                <a16:creationId xmlns:a16="http://schemas.microsoft.com/office/drawing/2014/main" id="{DBF14444-E92D-3E5D-F2AC-D3C242CAD2FD}"/>
              </a:ext>
            </a:extLst>
          </p:cNvPr>
          <p:cNvSpPr/>
          <p:nvPr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en-US" sz="1400" dirty="0"/>
          </a:p>
        </p:txBody>
      </p:sp>
      <p:sp>
        <p:nvSpPr>
          <p:cNvPr id="31" name="Shape 76">
            <a:extLst>
              <a:ext uri="{FF2B5EF4-FFF2-40B4-BE49-F238E27FC236}">
                <a16:creationId xmlns:a16="http://schemas.microsoft.com/office/drawing/2014/main" id="{0484E37D-83D8-32D6-CA24-CD6EE10940A5}"/>
              </a:ext>
            </a:extLst>
          </p:cNvPr>
          <p:cNvSpPr/>
          <p:nvPr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81">
            <a:extLst>
              <a:ext uri="{FF2B5EF4-FFF2-40B4-BE49-F238E27FC236}">
                <a16:creationId xmlns:a16="http://schemas.microsoft.com/office/drawing/2014/main" id="{D98B04CC-70A7-F66E-20AF-89F43CFB5497}"/>
              </a:ext>
            </a:extLst>
          </p:cNvPr>
          <p:cNvSpPr/>
          <p:nvPr/>
        </p:nvSpPr>
        <p:spPr>
          <a:xfrm>
            <a:off x="5424678" y="9626719"/>
            <a:ext cx="5104638" cy="2843568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82">
            <a:extLst>
              <a:ext uri="{FF2B5EF4-FFF2-40B4-BE49-F238E27FC236}">
                <a16:creationId xmlns:a16="http://schemas.microsoft.com/office/drawing/2014/main" id="{7F520AF5-F877-D2D8-B58D-285EE095397C}"/>
              </a:ext>
            </a:extLst>
          </p:cNvPr>
          <p:cNvSpPr/>
          <p:nvPr/>
        </p:nvSpPr>
        <p:spPr>
          <a:xfrm>
            <a:off x="5424678" y="9626719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83">
            <a:extLst>
              <a:ext uri="{FF2B5EF4-FFF2-40B4-BE49-F238E27FC236}">
                <a16:creationId xmlns:a16="http://schemas.microsoft.com/office/drawing/2014/main" id="{482D168A-9EFA-DC2D-79B6-E8B4A7E6A09B}"/>
              </a:ext>
            </a:extLst>
          </p:cNvPr>
          <p:cNvSpPr/>
          <p:nvPr/>
        </p:nvSpPr>
        <p:spPr>
          <a:xfrm>
            <a:off x="5561838" y="9749401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39" name="Shape 84">
            <a:extLst>
              <a:ext uri="{FF2B5EF4-FFF2-40B4-BE49-F238E27FC236}">
                <a16:creationId xmlns:a16="http://schemas.microsoft.com/office/drawing/2014/main" id="{3611276C-ECCF-A9D4-0BFB-3331B6DF4774}"/>
              </a:ext>
            </a:extLst>
          </p:cNvPr>
          <p:cNvSpPr/>
          <p:nvPr/>
        </p:nvSpPr>
        <p:spPr>
          <a:xfrm>
            <a:off x="5561140" y="10101221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ext 85">
            <a:extLst>
              <a:ext uri="{FF2B5EF4-FFF2-40B4-BE49-F238E27FC236}">
                <a16:creationId xmlns:a16="http://schemas.microsoft.com/office/drawing/2014/main" id="{0A774585-3D8A-8B13-E5C8-EF282132A861}"/>
              </a:ext>
            </a:extLst>
          </p:cNvPr>
          <p:cNvSpPr/>
          <p:nvPr/>
        </p:nvSpPr>
        <p:spPr>
          <a:xfrm>
            <a:off x="5560442" y="10159963"/>
            <a:ext cx="4830318" cy="2161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Tip smještaja dominira nad lokacijom kao cjenovni faktor u 5 od 6 analiziranih gradova, naizraženiji u Malagi i Valenciji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Cijeli stan/kuća dosljedno postiže višu cijenu od privatne sobe u gradovima, čime je potvrđena hipoteza o cjenovnoj premiji kompletnog smještaja. 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bs-Latn-B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Atena i Istanbul izdvajaju se kao gradovi s najboljim omjerom cijene i kvalitete; Istanbul i Valencia imaju visok udio nelicenciranog poslovanja (~40%). </a:t>
            </a:r>
          </a:p>
          <a:p>
            <a:pPr algn="just"/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l-P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Ograničenje: jedan vremenski presjek podataka. Buduća istraživanja mogu uključiti poređenje Airbnb tržišta sa hotelskim sektorom</a:t>
            </a:r>
            <a:endParaRPr lang="bs-Latn-B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86">
            <a:extLst>
              <a:ext uri="{FF2B5EF4-FFF2-40B4-BE49-F238E27FC236}">
                <a16:creationId xmlns:a16="http://schemas.microsoft.com/office/drawing/2014/main" id="{825930A2-BE01-5403-D237-FBCBF8691B0B}"/>
              </a:ext>
            </a:extLst>
          </p:cNvPr>
          <p:cNvSpPr/>
          <p:nvPr/>
        </p:nvSpPr>
        <p:spPr>
          <a:xfrm>
            <a:off x="5424678" y="12646686"/>
            <a:ext cx="5104638" cy="160881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87">
            <a:extLst>
              <a:ext uri="{FF2B5EF4-FFF2-40B4-BE49-F238E27FC236}">
                <a16:creationId xmlns:a16="http://schemas.microsoft.com/office/drawing/2014/main" id="{6316C567-17CB-C513-EB25-5C44312CCB8A}"/>
              </a:ext>
            </a:extLst>
          </p:cNvPr>
          <p:cNvSpPr/>
          <p:nvPr/>
        </p:nvSpPr>
        <p:spPr>
          <a:xfrm>
            <a:off x="5423980" y="12646686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88">
            <a:extLst>
              <a:ext uri="{FF2B5EF4-FFF2-40B4-BE49-F238E27FC236}">
                <a16:creationId xmlns:a16="http://schemas.microsoft.com/office/drawing/2014/main" id="{83CB6F53-9E6B-AB88-7E1B-2DABBE0B7690}"/>
              </a:ext>
            </a:extLst>
          </p:cNvPr>
          <p:cNvSpPr/>
          <p:nvPr/>
        </p:nvSpPr>
        <p:spPr>
          <a:xfrm>
            <a:off x="5561140" y="1276225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en-US" sz="1400" dirty="0"/>
          </a:p>
        </p:txBody>
      </p:sp>
      <p:sp>
        <p:nvSpPr>
          <p:cNvPr id="44" name="Shape 89">
            <a:extLst>
              <a:ext uri="{FF2B5EF4-FFF2-40B4-BE49-F238E27FC236}">
                <a16:creationId xmlns:a16="http://schemas.microsoft.com/office/drawing/2014/main" id="{41CBDD31-06DC-EA37-BD58-33B1C675EE0D}"/>
              </a:ext>
            </a:extLst>
          </p:cNvPr>
          <p:cNvSpPr/>
          <p:nvPr/>
        </p:nvSpPr>
        <p:spPr>
          <a:xfrm>
            <a:off x="5561140" y="1311556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90">
            <a:extLst>
              <a:ext uri="{FF2B5EF4-FFF2-40B4-BE49-F238E27FC236}">
                <a16:creationId xmlns:a16="http://schemas.microsoft.com/office/drawing/2014/main" id="{15A9EE1C-E3BB-896B-723C-37C8837C1BDA}"/>
              </a:ext>
            </a:extLst>
          </p:cNvPr>
          <p:cNvSpPr/>
          <p:nvPr/>
        </p:nvSpPr>
        <p:spPr>
          <a:xfrm>
            <a:off x="5560442" y="13216551"/>
            <a:ext cx="4830318" cy="95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hr-BA" sz="1200" kern="100" dirty="0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Inside Airbnb. (2025). </a:t>
            </a:r>
            <a:r>
              <a:rPr lang="hr-BA" sz="1200" i="1" kern="100" dirty="0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Listings and Neighbourhood Data</a:t>
            </a:r>
            <a:r>
              <a:rPr lang="hr-BA" sz="1200" kern="100" dirty="0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 [Skup podataka za gradove: Atena (26.09.2025.), Malaga (30.09.2025.), Istanbul (29.09.2025.), Napulj (22.09.2025.), Rim (14.09.2025.) i Valencia (23.09.2025.)]. Preuzeto sa zvanične platforme Inside Airbnb: </a:t>
            </a:r>
            <a:r>
              <a:rPr lang="hr-BA" sz="1200" u="sng" kern="100" dirty="0">
                <a:solidFill>
                  <a:srgbClr val="467886"/>
                </a:solidFill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  <a:hlinkClick r:id="rId2"/>
              </a:rPr>
              <a:t>https://insideairbnb.com/get-the-data/</a:t>
            </a:r>
            <a:r>
              <a:rPr lang="hr-BA" sz="1200" kern="100" dirty="0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 [Pristupljeno: maj 2026.].</a:t>
            </a:r>
            <a:endParaRPr lang="bs-Latn-BA" sz="1200" kern="100" dirty="0">
              <a:latin typeface="Times New Roman" panose="02020603050405020304" pitchFamily="18" charset="0"/>
              <a:ea typeface="Aptos"/>
              <a:cs typeface="Times New Roman" panose="02020603050405020304" pitchFamily="18" charset="0"/>
            </a:endParaRPr>
          </a:p>
          <a:p>
            <a:endParaRPr lang="en-US" sz="100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6CC85171-A4D2-4155-B7B5-C66A23BBC75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442" y="3409593"/>
            <a:ext cx="4831016" cy="2768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3C40A6B-2E25-4892-B390-8268E48741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718" y="6539680"/>
            <a:ext cx="4908740" cy="2799446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 67">
            <a:extLst>
              <a:ext uri="{FF2B5EF4-FFF2-40B4-BE49-F238E27FC236}">
                <a16:creationId xmlns:a16="http://schemas.microsoft.com/office/drawing/2014/main" id="{C4640956-D2BB-4028-A254-0CD913DCC1F0}"/>
              </a:ext>
            </a:extLst>
          </p:cNvPr>
          <p:cNvSpPr/>
          <p:nvPr/>
        </p:nvSpPr>
        <p:spPr>
          <a:xfrm>
            <a:off x="5521929" y="6301086"/>
            <a:ext cx="4830318" cy="23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bs-Latn-B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Slika 1 – Distribucija cijena </a:t>
            </a:r>
            <a:r>
              <a:rPr lang="bs-Latn-BA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Airbnb</a:t>
            </a:r>
            <a:r>
              <a:rPr lang="bs-Latn-B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smještaja po gradu</a:t>
            </a: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 67">
            <a:extLst>
              <a:ext uri="{FF2B5EF4-FFF2-40B4-BE49-F238E27FC236}">
                <a16:creationId xmlns:a16="http://schemas.microsoft.com/office/drawing/2014/main" id="{B73B810F-83CA-4F9A-94CC-F634A4401B56}"/>
              </a:ext>
            </a:extLst>
          </p:cNvPr>
          <p:cNvSpPr/>
          <p:nvPr/>
        </p:nvSpPr>
        <p:spPr>
          <a:xfrm>
            <a:off x="5597406" y="9325035"/>
            <a:ext cx="4830318" cy="23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bs-Latn-B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Slika 2 – Lokacija </a:t>
            </a:r>
            <a:r>
              <a:rPr lang="bs-Latn-BA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bs-Latn-BA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tip smještaja</a:t>
            </a:r>
            <a:endParaRPr 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6487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666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Custom Design</vt:lpstr>
      <vt:lpstr>PowerPoint Presentation</vt:lpstr>
    </vt:vector>
  </TitlesOfParts>
  <Company>Selena Kurtic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II</dc:title>
  <dc:subject>Uvod u analizu podataka</dc:subject>
  <dc:creator>Selena Kurtic</dc:creator>
  <cp:lastModifiedBy>belma salkicic</cp:lastModifiedBy>
  <cp:revision>14</cp:revision>
  <dcterms:created xsi:type="dcterms:W3CDTF">2026-05-15T21:13:15Z</dcterms:created>
  <dcterms:modified xsi:type="dcterms:W3CDTF">2026-05-28T13:16:15Z</dcterms:modified>
</cp:coreProperties>
</file>